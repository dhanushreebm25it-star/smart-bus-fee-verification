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67" r:id="rId4"/>
    <p:sldId id="271" r:id="rId5"/>
    <p:sldId id="272" r:id="rId6"/>
    <p:sldId id="273" r:id="rId7"/>
    <p:sldId id="274" r:id="rId8"/>
    <p:sldId id="275" r:id="rId9"/>
    <p:sldId id="276" r:id="rId10"/>
    <p:sldId id="278" r:id="rId11"/>
    <p:sldId id="27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SRRlCFA/cW3kQ7Z8qFsYPlG0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FC6"/>
    <a:srgbClr val="424D72"/>
    <a:srgbClr val="0916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>
        <p:scale>
          <a:sx n="75" d="100"/>
          <a:sy n="75" d="100"/>
        </p:scale>
        <p:origin x="1205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0488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721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2435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525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018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5528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9619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2734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362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3813603" y="63741"/>
            <a:ext cx="8286382" cy="230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US" sz="3600" b="1" dirty="0">
                <a:solidFill>
                  <a:srgbClr val="0F6FC6"/>
                </a:solidFill>
              </a:rPr>
              <a:t>Smart Bus Fee Verification System</a:t>
            </a:r>
            <a:endParaRPr sz="3600" b="1" dirty="0">
              <a:solidFill>
                <a:srgbClr val="0F6FC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 dirty="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 dirty="0">
                <a:solidFill>
                  <a:srgbClr val="B9077E"/>
                </a:solidFill>
              </a:rPr>
              <a:t>    </a:t>
            </a:r>
            <a:endParaRPr sz="3200" dirty="0"/>
          </a:p>
        </p:txBody>
      </p:sp>
      <p:pic>
        <p:nvPicPr>
          <p:cNvPr id="88" name="Google Shape;88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6129699" y="2656312"/>
            <a:ext cx="53532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i="0" u="none" strike="noStrike" cap="none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 :  </a:t>
            </a: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DHANUSHREE B M(25ITR021)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ESAIMOZHI M(25ITR033)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HARINI P(25ITR041)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HARINI SREE L(25ITR042)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INBARASI E(25ITR048)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705963"/>
              </p:ext>
            </p:extLst>
          </p:nvPr>
        </p:nvGraphicFramePr>
        <p:xfrm>
          <a:off x="4653855" y="4422492"/>
          <a:ext cx="7538145" cy="2196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3472">
                  <a:extLst>
                    <a:ext uri="{9D8B030D-6E8A-4147-A177-3AD203B41FA5}">
                      <a16:colId xmlns:a16="http://schemas.microsoft.com/office/drawing/2014/main" val="3781455394"/>
                    </a:ext>
                  </a:extLst>
                </a:gridCol>
                <a:gridCol w="279271">
                  <a:extLst>
                    <a:ext uri="{9D8B030D-6E8A-4147-A177-3AD203B41FA5}">
                      <a16:colId xmlns:a16="http://schemas.microsoft.com/office/drawing/2014/main" val="3786070190"/>
                    </a:ext>
                  </a:extLst>
                </a:gridCol>
                <a:gridCol w="5585402">
                  <a:extLst>
                    <a:ext uri="{9D8B030D-6E8A-4147-A177-3AD203B41FA5}">
                      <a16:colId xmlns:a16="http://schemas.microsoft.com/office/drawing/2014/main" val="2962891905"/>
                    </a:ext>
                  </a:extLst>
                </a:gridCol>
              </a:tblGrid>
              <a:tr h="36690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24ITL34 – DESIGN THINKING LABORATORY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5757501"/>
                  </a:ext>
                </a:extLst>
              </a:tr>
              <a:tr h="36690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EXERCISE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3 – CONDUCT FIELD OBSERVATION FOR YOUR DESIGN CHALLENGE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4 – CONDUCT AN INTERVIEW WITH YOUR CUSTOMER BY USING EMPATHY MAP &amp; JOURNEY MAP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7360398"/>
                  </a:ext>
                </a:extLst>
              </a:tr>
              <a:tr h="36690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16.10.2025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659261"/>
                  </a:ext>
                </a:extLst>
              </a:tr>
            </a:tbl>
          </a:graphicData>
        </a:graphic>
      </p:graphicFrame>
      <p:pic>
        <p:nvPicPr>
          <p:cNvPr id="8" name="Picture 2" descr="C:\Users\govin\Downloads\image-removebg-preview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379446" y="4851132"/>
            <a:ext cx="4094797" cy="10060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D939A5-9018-613A-4863-29EA2A94F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292" y="23150"/>
            <a:ext cx="6237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44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751114" y="24555"/>
            <a:ext cx="113157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II: Empathize</a:t>
            </a:r>
            <a:endParaRPr lang="en-US" sz="36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 : Empathy Map – To Generate Interview Question</a:t>
            </a:r>
            <a:r>
              <a:rPr lang="en-US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36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47B4E-CED3-4D64-71BE-8217982D5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737" y="1224842"/>
            <a:ext cx="8708740" cy="55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751114" y="24555"/>
            <a:ext cx="113157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II: Empathize</a:t>
            </a:r>
            <a:endParaRPr lang="en-US" sz="36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T18 : Journey Map – To Generate Interview Questions</a:t>
            </a:r>
            <a:r>
              <a:rPr lang="en-US" sz="3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36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1FE11-D523-1DE7-4B89-4FC6CC853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658" y="1198810"/>
            <a:ext cx="9300612" cy="563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5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876300" y="50982"/>
            <a:ext cx="113157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II: Empathize</a:t>
            </a:r>
            <a:endParaRPr lang="en-US" sz="2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T19 : Combined Empathy Map &amp; Journey Map – To Generate Interview Questions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4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34E53-F192-19EC-E9BA-8457DCC86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967" y="963561"/>
            <a:ext cx="8287368" cy="587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3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876300" y="22754"/>
            <a:ext cx="11315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T20 : User Interview Notes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4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D92D2-C732-9535-BA7A-961952DFA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827" y="484378"/>
            <a:ext cx="5722374" cy="63736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254C25-1E7B-F1D2-D1BB-F26849541AFD}"/>
              </a:ext>
            </a:extLst>
          </p:cNvPr>
          <p:cNvSpPr/>
          <p:nvPr/>
        </p:nvSpPr>
        <p:spPr>
          <a:xfrm>
            <a:off x="5031740" y="863600"/>
            <a:ext cx="886460" cy="129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424D72"/>
                </a:solidFill>
              </a:rPr>
              <a:t>Harini Sree L</a:t>
            </a:r>
            <a:endParaRPr lang="en-IN" sz="800" dirty="0">
              <a:solidFill>
                <a:srgbClr val="424D7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4AD007-E675-2DFD-AC60-769D288C3915}"/>
              </a:ext>
            </a:extLst>
          </p:cNvPr>
          <p:cNvSpPr/>
          <p:nvPr/>
        </p:nvSpPr>
        <p:spPr>
          <a:xfrm>
            <a:off x="5010150" y="1049655"/>
            <a:ext cx="2554605" cy="1600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424D72"/>
                </a:solidFill>
              </a:rPr>
              <a:t>Harini P, Dhanushree B M, </a:t>
            </a:r>
            <a:r>
              <a:rPr lang="en-US" sz="800" dirty="0" err="1">
                <a:solidFill>
                  <a:srgbClr val="424D72"/>
                </a:solidFill>
              </a:rPr>
              <a:t>Esaimozhi</a:t>
            </a:r>
            <a:r>
              <a:rPr lang="en-US" sz="800" dirty="0">
                <a:solidFill>
                  <a:srgbClr val="424D72"/>
                </a:solidFill>
              </a:rPr>
              <a:t> M, </a:t>
            </a:r>
            <a:r>
              <a:rPr lang="en-US" sz="800" dirty="0" err="1">
                <a:solidFill>
                  <a:srgbClr val="424D72"/>
                </a:solidFill>
              </a:rPr>
              <a:t>Inbarasi</a:t>
            </a:r>
            <a:r>
              <a:rPr lang="en-US" sz="800" dirty="0">
                <a:solidFill>
                  <a:srgbClr val="424D72"/>
                </a:solidFill>
              </a:rPr>
              <a:t> E </a:t>
            </a:r>
            <a:endParaRPr lang="en-IN" sz="800" dirty="0">
              <a:solidFill>
                <a:srgbClr val="424D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9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876300" y="22754"/>
            <a:ext cx="11315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T21 : Post Interview Discussion : About the Interviewee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4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E15DDE-75FB-1020-8E73-134C8199A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981" y="484378"/>
            <a:ext cx="9116337" cy="634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8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876300" y="22754"/>
            <a:ext cx="11315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T22 : Post Interview Discussion : About the Process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4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3E3729-5DE9-5476-FE4C-648C87613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801679"/>
            <a:ext cx="11315700" cy="603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-1590009" y="741211"/>
            <a:ext cx="11315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T23 : Post Interview De-brief Presentation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4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5F5B9-FE06-2B02-09C5-63711D1CF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309" y="1202835"/>
            <a:ext cx="7266292" cy="562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8400" y="741680"/>
            <a:ext cx="499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+mn-lt"/>
              </a:rPr>
              <a:t>Geo – Tag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960" y="3495040"/>
            <a:ext cx="499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+mn-lt"/>
              </a:rPr>
              <a:t>Video of the interview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1BBD2-EF31-D291-B6AE-052C6436EA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631" y="1086162"/>
            <a:ext cx="3286009" cy="2464507"/>
          </a:xfrm>
          <a:prstGeom prst="rect">
            <a:avLst/>
          </a:prstGeom>
        </p:spPr>
      </p:pic>
      <p:pic>
        <p:nvPicPr>
          <p:cNvPr id="3" name="WhatsApp Video 2026-10-16 at 12.45.09 PM">
            <a:hlinkClick r:id="" action="ppaction://media"/>
            <a:extLst>
              <a:ext uri="{FF2B5EF4-FFF2-40B4-BE49-F238E27FC236}">
                <a16:creationId xmlns:a16="http://schemas.microsoft.com/office/drawing/2014/main" id="{65F19CB3-5B02-B580-B87B-DB9F9D7EB2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52631" y="4076851"/>
            <a:ext cx="3518440" cy="246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8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64680" y="281948"/>
          <a:ext cx="10942856" cy="6487152"/>
        </p:xfrm>
        <a:graphic>
          <a:graphicData uri="http://schemas.openxmlformats.org/drawingml/2006/table">
            <a:tbl>
              <a:tblPr/>
              <a:tblGrid>
                <a:gridCol w="164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7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9982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Bookman Uralic"/>
                          <a:cs typeface="Bookman Uralic"/>
                          <a:sym typeface="Arial"/>
                        </a:rPr>
                        <a:t>Ex. No. : 4  </a:t>
                      </a: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Bookman Uralic"/>
                          <a:cs typeface="Bookman Uralic"/>
                          <a:sym typeface="Arial"/>
                        </a:rPr>
                        <a:t>Description</a:t>
                      </a: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Reg. No.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417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Conduct of Experiment</a:t>
                      </a:r>
                      <a:r>
                        <a:rPr lang="en-US" sz="2000" b="1" kern="100">
                          <a:solidFill>
                            <a:srgbClr val="000000"/>
                          </a:solidFill>
                          <a:latin typeface="Times New Roman"/>
                          <a:ea typeface="Bookman Uralic"/>
                          <a:cs typeface="Bookman Uralic"/>
                        </a:rPr>
                        <a:t> </a:t>
                      </a:r>
                      <a:r>
                        <a:rPr lang="en-IN" sz="2000" b="1" kern="100">
                          <a:solidFill>
                            <a:srgbClr val="000000"/>
                          </a:solidFill>
                          <a:latin typeface="Times New Roman"/>
                          <a:ea typeface="Bookman Uralic"/>
                          <a:cs typeface="Bookman Uralic"/>
                        </a:rPr>
                        <a:t>(30)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 dirty="0">
                          <a:latin typeface="Times New Roman"/>
                          <a:ea typeface="Bookman Uralic"/>
                          <a:cs typeface="Bookman Uralic"/>
                        </a:rPr>
                        <a:t>Empathize: Conduct user research to identify genuine needs. (5)</a:t>
                      </a: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 dirty="0">
                          <a:latin typeface="Times New Roman"/>
                          <a:ea typeface="Bookman Uralic"/>
                          <a:cs typeface="Bookman Uralic"/>
                        </a:rPr>
                        <a:t>Define: Frame the right problem using insights. (10)</a:t>
                      </a: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Ideate: Create creative solutions. (10)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1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Prototype: Model Creation (5)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14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Presentation (20)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Presentation &amp; Reflection (10)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8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Depth of Research &amp; Preparation (10)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14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Viva (10)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Communication &amp; Clarity (5)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 dirty="0">
                          <a:latin typeface="Times New Roman"/>
                          <a:ea typeface="Bookman Uralic"/>
                          <a:cs typeface="Bookman Uralic"/>
                        </a:rPr>
                        <a:t>Response to Questions (5)</a:t>
                      </a: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982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Faculty Signature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294</Words>
  <Application>Microsoft Office PowerPoint</Application>
  <PresentationFormat>Widescreen</PresentationFormat>
  <Paragraphs>59</Paragraphs>
  <Slides>11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Uralic</vt:lpstr>
      <vt:lpstr>Calibri</vt:lpstr>
      <vt:lpstr>Noto Sans Symbols</vt:lpstr>
      <vt:lpstr>Times New Roman</vt:lpstr>
      <vt:lpstr>Flow</vt:lpstr>
      <vt:lpstr>Smart Bus Fee Verification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 1:  Develop SCOPES template for your design challenge</dc:title>
  <dc:creator>kavinkumar M</dc:creator>
  <cp:lastModifiedBy>Rithanya L</cp:lastModifiedBy>
  <cp:revision>55</cp:revision>
  <dcterms:created xsi:type="dcterms:W3CDTF">2021-04-21T15:36:00Z</dcterms:created>
  <dcterms:modified xsi:type="dcterms:W3CDTF">2026-10-16T09:05:44Z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37A3327C92E44D8A8E230645E01DA062</vt:lpwstr>
  </property>
  <property fmtid="{D5CDD505-2E9C-101B-9397-08002B2CF9AE}" pid="3" name="KSOProductBuildVer">
    <vt:lpwstr>1033-11.2.0.11537</vt:lpwstr>
  </property>
</Properties>
</file>