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7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268" r:id="rId18"/>
    <p:sldId id="301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SRRlCFA/cW3kQ7Z8qFsYPlG0g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7213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3612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3453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9868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0812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4357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4615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728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0177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9794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0056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4034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45893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84118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10111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8741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2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2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2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2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4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title"/>
          </p:nvPr>
        </p:nvSpPr>
        <p:spPr>
          <a:xfrm>
            <a:off x="4284407" y="-791399"/>
            <a:ext cx="7772400" cy="230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>
                <a:solidFill>
                  <a:srgbClr val="0066CC"/>
                </a:solidFill>
                <a:latin typeface="Arial"/>
              </a:defRPr>
            </a:pPr>
            <a:r>
              <a:rPr lang="en-US" sz="2800" b="1" dirty="0">
                <a:solidFill>
                  <a:schemeClr val="tx1"/>
                </a:solidFill>
                <a:latin typeface="Arial"/>
              </a:rPr>
              <a:t>Smart Bus Fee Verification System</a:t>
            </a:r>
            <a:endParaRPr sz="2800" b="1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body" idx="1"/>
          </p:nvPr>
        </p:nvSpPr>
        <p:spPr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 dirty="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 dirty="0">
                <a:solidFill>
                  <a:srgbClr val="B9077E"/>
                </a:solidFill>
              </a:rPr>
              <a:t>    </a:t>
            </a:r>
            <a:endParaRPr sz="3200" dirty="0"/>
          </a:p>
        </p:txBody>
      </p:sp>
      <p:pic>
        <p:nvPicPr>
          <p:cNvPr id="88" name="Google Shape;88;p1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3930937" y="1726836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27432" rIns="45720" bIns="27432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700"/>
              <a:buFont typeface="Arial"/>
              <a:buNone/>
              <a:defRPr sz="1200" b="1">
                <a:latin typeface="Arial"/>
              </a:defRPr>
            </a:pPr>
            <a:r>
              <a:rPr lang="en-US" sz="1600" b="1" dirty="0">
                <a:latin typeface="Arial"/>
              </a:rPr>
              <a:t>TEAM MEMBERS:</a:t>
            </a:r>
            <a:endParaRPr lang="en-US" sz="1600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spcAft>
                <a:spcPts val="300"/>
              </a:spcAft>
              <a:defRPr sz="1200">
                <a:latin typeface="Arial"/>
              </a:defRPr>
            </a:pPr>
            <a:r>
              <a:rPr lang="en-US" sz="1600" dirty="0">
                <a:latin typeface="Arial"/>
              </a:rPr>
              <a:t>DHANU SHREE (25ITR021)</a:t>
            </a:r>
          </a:p>
          <a:p>
            <a:pPr algn="ctr">
              <a:spcAft>
                <a:spcPts val="300"/>
              </a:spcAft>
              <a:defRPr sz="1200">
                <a:latin typeface="Arial"/>
              </a:defRPr>
            </a:pPr>
            <a:r>
              <a:rPr lang="en-US" sz="1600" dirty="0">
                <a:latin typeface="Arial"/>
              </a:rPr>
              <a:t>ESAIMOZHI (25ITR033)</a:t>
            </a:r>
          </a:p>
          <a:p>
            <a:pPr algn="ctr">
              <a:spcAft>
                <a:spcPts val="300"/>
              </a:spcAft>
              <a:defRPr sz="1200">
                <a:latin typeface="Arial"/>
              </a:defRPr>
            </a:pPr>
            <a:r>
              <a:rPr lang="en-US" sz="1600" dirty="0">
                <a:latin typeface="Arial"/>
              </a:rPr>
              <a:t>HARINI P (25ITR041)</a:t>
            </a:r>
          </a:p>
          <a:p>
            <a:pPr algn="ctr">
              <a:spcAft>
                <a:spcPts val="300"/>
              </a:spcAft>
              <a:defRPr sz="1200">
                <a:latin typeface="Arial"/>
              </a:defRPr>
            </a:pPr>
            <a:r>
              <a:rPr lang="en-US" sz="1600" dirty="0">
                <a:latin typeface="Arial"/>
              </a:rPr>
              <a:t>HARINI SREE (25ITR042)</a:t>
            </a:r>
          </a:p>
          <a:p>
            <a:pPr algn="ctr">
              <a:spcAft>
                <a:spcPts val="300"/>
              </a:spcAft>
              <a:defRPr sz="1200">
                <a:latin typeface="Arial"/>
              </a:defRPr>
            </a:pPr>
            <a:r>
              <a:rPr lang="en-US" sz="1600" dirty="0">
                <a:latin typeface="Arial"/>
              </a:rPr>
              <a:t>INBARASI E (25ITR048)</a:t>
            </a:r>
          </a:p>
        </p:txBody>
      </p:sp>
      <p:pic>
        <p:nvPicPr>
          <p:cNvPr id="8" name="Picture 2" descr="C:\Users\govin\Downloads\image-removebg-preview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379446" y="4851132"/>
            <a:ext cx="4094797" cy="1006041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C65029-5F66-F725-76A0-50F207C5076E}"/>
              </a:ext>
            </a:extLst>
          </p:cNvPr>
          <p:cNvSpPr txBox="1"/>
          <p:nvPr/>
        </p:nvSpPr>
        <p:spPr>
          <a:xfrm>
            <a:off x="5512613" y="3759565"/>
            <a:ext cx="56240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sz="1800" b="1" dirty="0"/>
              <a:t>Course : 24ITL34 – DESIGN THINKING LABORATORY</a:t>
            </a:r>
          </a:p>
          <a:p>
            <a:pPr fontAlgn="ctr"/>
            <a:endParaRPr lang="en-IN" sz="1800" dirty="0"/>
          </a:p>
          <a:p>
            <a:r>
              <a:rPr lang="en-US" sz="1800" b="1" dirty="0"/>
              <a:t>Exercise : 2 – PERFORM  USER  RESEARCH BY USING EXPLORE METHOD &amp; TOOLS</a:t>
            </a:r>
          </a:p>
          <a:p>
            <a:endParaRPr lang="en-US" sz="1800" b="1" dirty="0"/>
          </a:p>
          <a:p>
            <a:r>
              <a:rPr lang="en-US" sz="1800" b="1" dirty="0"/>
              <a:t>Date : 09.10.2026</a:t>
            </a:r>
            <a:endParaRPr lang="en-IN" sz="1800" dirty="0"/>
          </a:p>
          <a:p>
            <a:pPr fontAlgn="ctr"/>
            <a:r>
              <a:rPr lang="en-US" sz="1800" dirty="0"/>
              <a:t>                                                                              </a:t>
            </a:r>
            <a:endParaRPr lang="en-IN" sz="1800" dirty="0"/>
          </a:p>
          <a:p>
            <a:endParaRPr lang="en-I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 : STEEP Trends Analysis</a:t>
            </a:r>
            <a:endParaRPr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Google Shape;1154;p1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3792494" y="-131464"/>
            <a:ext cx="5661440" cy="809083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926080" y="2221991"/>
            <a:ext cx="2194560" cy="1543763"/>
          </a:xfrm>
          <a:prstGeom prst="rect">
            <a:avLst/>
          </a:prstGeom>
          <a:noFill/>
        </p:spPr>
        <p:txBody>
          <a:bodyPr wrap="square" lIns="45720" tIns="0" rIns="4572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                     SOCIAL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dirty="0">
                <a:solidFill>
                  <a:srgbClr val="232323"/>
                </a:solidFill>
              </a:rPr>
              <a:t>         </a:t>
            </a:r>
            <a:r>
              <a:rPr lang="en-US" sz="900" b="0" dirty="0">
                <a:solidFill>
                  <a:srgbClr val="232323"/>
                </a:solidFill>
                <a:latin typeface="Arial"/>
              </a:rPr>
              <a:t>Large student population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dirty="0">
                <a:solidFill>
                  <a:srgbClr val="232323"/>
                </a:solidFill>
              </a:rPr>
              <a:t>   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dirty="0">
                <a:solidFill>
                  <a:srgbClr val="232323"/>
                </a:solidFill>
              </a:rPr>
              <a:t>       </a:t>
            </a:r>
            <a:r>
              <a:rPr lang="en-US" sz="900" b="0" dirty="0">
                <a:solidFill>
                  <a:srgbClr val="232323"/>
                </a:solidFill>
                <a:latin typeface="Arial"/>
              </a:rPr>
              <a:t> Students expect quick boarding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  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dirty="0">
                <a:solidFill>
                  <a:srgbClr val="232323"/>
                </a:solidFill>
              </a:rPr>
              <a:t>      </a:t>
            </a:r>
            <a:r>
              <a:rPr lang="en-US" sz="900" b="0" dirty="0">
                <a:solidFill>
                  <a:srgbClr val="232323"/>
                </a:solidFill>
                <a:latin typeface="Arial"/>
              </a:rPr>
              <a:t>Need clear fee-status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96128" y="2221992"/>
            <a:ext cx="2194560" cy="1371600"/>
          </a:xfrm>
          <a:prstGeom prst="rect">
            <a:avLst/>
          </a:prstGeom>
          <a:noFill/>
        </p:spPr>
        <p:txBody>
          <a:bodyPr wrap="square" lIns="45720" tIns="0" rIns="4572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           TECHNOLOGICAL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      QR/Student ID scanning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      Digital payment records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endParaRPr lang="en-US" sz="900" dirty="0">
              <a:solidFill>
                <a:srgbClr val="232323"/>
              </a:solidFill>
            </a:endParaRP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      Real-time database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4464" y="2221992"/>
            <a:ext cx="2194560" cy="1371600"/>
          </a:xfrm>
          <a:prstGeom prst="rect">
            <a:avLst/>
          </a:prstGeom>
          <a:noFill/>
        </p:spPr>
        <p:txBody>
          <a:bodyPr wrap="square" lIns="45720" tIns="0" rIns="4572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                ECONOMIC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     Low-cost implementation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dirty="0">
                <a:solidFill>
                  <a:srgbClr val="232323"/>
                </a:solidFill>
              </a:rPr>
              <a:t> </a:t>
            </a:r>
            <a:endParaRPr lang="en-US" sz="900" b="0" dirty="0">
              <a:solidFill>
                <a:srgbClr val="232323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            Reduce staff time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endParaRPr lang="en-US" sz="900" dirty="0">
              <a:solidFill>
                <a:srgbClr val="232323"/>
              </a:solidFill>
            </a:endParaRP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         Affordable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617720"/>
            <a:ext cx="2194560" cy="1371600"/>
          </a:xfrm>
          <a:prstGeom prst="rect">
            <a:avLst/>
          </a:prstGeom>
          <a:noFill/>
        </p:spPr>
        <p:txBody>
          <a:bodyPr wrap="square" lIns="45720" tIns="0" rIns="4572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      ENVIRONMENT &amp; NATURE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endParaRPr lang="en-US" sz="900" b="0" dirty="0">
              <a:solidFill>
                <a:srgbClr val="232323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 Less paper-based record keeping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endParaRPr lang="en-US" sz="900" dirty="0">
              <a:solidFill>
                <a:srgbClr val="232323"/>
              </a:solidFill>
            </a:endParaRP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Reduced printing and manual registers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4464" y="4617720"/>
            <a:ext cx="2194560" cy="1371600"/>
          </a:xfrm>
          <a:prstGeom prst="rect">
            <a:avLst/>
          </a:prstGeom>
          <a:noFill/>
        </p:spPr>
        <p:txBody>
          <a:bodyPr wrap="square" lIns="45720" tIns="0" rIns="4572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 dirty="0">
                <a:solidFill>
                  <a:srgbClr val="232323"/>
                </a:solidFill>
                <a:latin typeface="Arial"/>
              </a:rPr>
              <a:t>            POLITICAL / LEGAL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dirty="0">
                <a:solidFill>
                  <a:srgbClr val="232323"/>
                </a:solidFill>
              </a:rPr>
              <a:t>        </a:t>
            </a:r>
            <a:r>
              <a:rPr lang="en-US" sz="900" b="0" dirty="0">
                <a:solidFill>
                  <a:srgbClr val="232323"/>
                </a:solidFill>
                <a:latin typeface="Arial"/>
              </a:rPr>
              <a:t>Protect student payment data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dirty="0">
                <a:solidFill>
                  <a:srgbClr val="232323"/>
                </a:solidFill>
              </a:rPr>
              <a:t>     </a:t>
            </a:r>
            <a:r>
              <a:rPr lang="en-US" sz="900" b="0" dirty="0">
                <a:solidFill>
                  <a:srgbClr val="232323"/>
                </a:solidFill>
                <a:latin typeface="Arial"/>
              </a:rPr>
              <a:t> Restrict access to </a:t>
            </a:r>
            <a:r>
              <a:rPr lang="en-US" sz="900" b="0" dirty="0" err="1">
                <a:solidFill>
                  <a:srgbClr val="232323"/>
                </a:solidFill>
                <a:latin typeface="Arial"/>
              </a:rPr>
              <a:t>authorised</a:t>
            </a:r>
            <a:r>
              <a:rPr lang="en-US" sz="900" b="0" dirty="0">
                <a:solidFill>
                  <a:srgbClr val="232323"/>
                </a:solidFill>
                <a:latin typeface="Arial"/>
              </a:rPr>
              <a:t> staff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dirty="0">
                <a:solidFill>
                  <a:srgbClr val="232323"/>
                </a:solidFill>
              </a:rPr>
              <a:t>     </a:t>
            </a:r>
            <a:r>
              <a:rPr lang="en-US" sz="900" b="0" dirty="0">
                <a:solidFill>
                  <a:srgbClr val="232323"/>
                </a:solidFill>
                <a:latin typeface="Arial"/>
              </a:rPr>
              <a:t> Follow college payment procedures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989320"/>
            <a:ext cx="23774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5D2A"/>
                </a:solidFill>
                <a:latin typeface="Arial"/>
              </a:defRPr>
            </a:pPr>
            <a:r>
              <a:rPr lang="en-US" sz="1000" b="1" dirty="0">
                <a:solidFill>
                  <a:srgbClr val="275D2A"/>
                </a:solidFill>
                <a:latin typeface="Arial"/>
              </a:rPr>
              <a:t>DESIGN CHALLENGE: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5D2A"/>
                </a:solidFill>
                <a:latin typeface="Arial"/>
              </a:defRPr>
            </a:pPr>
            <a:r>
              <a:rPr lang="en-US" sz="1000" b="1" dirty="0">
                <a:solidFill>
                  <a:srgbClr val="275D2A"/>
                </a:solidFill>
                <a:latin typeface="Arial"/>
              </a:rPr>
              <a:t>Fast, accurate bus-fee checks</a:t>
            </a:r>
          </a:p>
        </p:txBody>
      </p:sp>
    </p:spTree>
    <p:extLst>
      <p:ext uri="{BB962C8B-B14F-4D97-AF65-F5344CB8AC3E}">
        <p14:creationId xmlns:p14="http://schemas.microsoft.com/office/powerpoint/2010/main" val="7089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T3 : STEEP Analysis Matrix</a:t>
            </a:r>
            <a:endParaRPr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200" y="921276"/>
            <a:ext cx="7706080" cy="56954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20440" y="1920240"/>
            <a:ext cx="347472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HIGH IMPACT / UNCERTAIN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Internet may be unstable at boarding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Payment records may not update instantly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920240"/>
            <a:ext cx="347472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HIGH IMPACT / LIKELY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Faster QR/ID-based verification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More students need quick 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4526280"/>
            <a:ext cx="347472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LOWER IMPACT / UNCERTAIN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Device availability may vary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Some users may need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4526280"/>
            <a:ext cx="347472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LOWER IMPACT / LIKELY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Digital records reduce paperwork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Reports help routine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1899292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T4 : STEEP Analysis Prioritization</a:t>
            </a:r>
            <a:endParaRPr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872" y="925184"/>
            <a:ext cx="8366791" cy="59328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2679192"/>
            <a:ext cx="75895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HIGH IMPACT – LIKELY TO OCCUR</a:t>
            </a:r>
          </a:p>
          <a:p>
            <a:pPr marL="384048" indent="0"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Manual fee checking causes boarding delays.</a:t>
            </a:r>
          </a:p>
          <a:p>
            <a:pPr marL="384048" indent="0" algn="l">
              <a:spcBef>
                <a:spcPts val="3860"/>
              </a:spcBef>
              <a:spcAft>
                <a:spcPts val="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QR/Student ID scanning can speed up verification.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507992"/>
            <a:ext cx="758952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HIGH IMPACT – UNCERTAIN TO OCCUR</a:t>
            </a:r>
          </a:p>
          <a:p>
            <a:pPr marL="384048" indent="0"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Internet failure may interrupt live verification.</a:t>
            </a:r>
          </a:p>
          <a:p>
            <a:pPr marL="384048" indent="0" algn="l">
              <a:spcBef>
                <a:spcPts val="3860"/>
              </a:spcBef>
              <a:spcAft>
                <a:spcPts val="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Delays in payment updates may show an incorrect status.</a:t>
            </a:r>
          </a:p>
        </p:txBody>
      </p:sp>
    </p:spTree>
    <p:extLst>
      <p:ext uri="{BB962C8B-B14F-4D97-AF65-F5344CB8AC3E}">
        <p14:creationId xmlns:p14="http://schemas.microsoft.com/office/powerpoint/2010/main" val="4173847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T5 : Strategic Priorities Matrix</a:t>
            </a:r>
            <a:endParaRPr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t="8849"/>
          <a:stretch/>
        </p:blipFill>
        <p:spPr>
          <a:xfrm>
            <a:off x="1894908" y="1367084"/>
            <a:ext cx="9039792" cy="50991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2468880"/>
            <a:ext cx="388620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URGENT + IMPORTANT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Build reliable fee-status lookup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Verify using QR code / Student ID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Show clear paid / pending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468880"/>
            <a:ext cx="388620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LESS URGENT + IMPORTANT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Generate periodic reports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Improve dashboard layout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Add user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526280"/>
            <a:ext cx="388620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URGENT + LESS IMPORTANT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Train staff before deployment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Prepare a simple fallback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4526280"/>
            <a:ext cx="388620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LESS URGENT + LESS IMPORTANT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Decorative interface changes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32323"/>
                </a:solidFill>
                <a:latin typeface="Arial"/>
              </a:defRPr>
            </a:pPr>
            <a:r>
              <a:rPr lang="en-US" sz="1400" b="0">
                <a:solidFill>
                  <a:srgbClr val="232323"/>
                </a:solidFill>
                <a:latin typeface="Arial"/>
              </a:rPr>
              <a:t>• Features outside the project scope</a:t>
            </a:r>
          </a:p>
        </p:txBody>
      </p:sp>
    </p:spTree>
    <p:extLst>
      <p:ext uri="{BB962C8B-B14F-4D97-AF65-F5344CB8AC3E}">
        <p14:creationId xmlns:p14="http://schemas.microsoft.com/office/powerpoint/2010/main" val="3254552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T6 : Synthesis (Sense Making)</a:t>
            </a:r>
            <a:endParaRPr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t="4642"/>
          <a:stretch/>
        </p:blipFill>
        <p:spPr>
          <a:xfrm>
            <a:off x="2315499" y="1315911"/>
            <a:ext cx="8294869" cy="52054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60" y="2199132"/>
            <a:ext cx="4434840" cy="4206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Manual checks take time; large queues create boarding delays.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711196"/>
            <a:ext cx="4434840" cy="4206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Staff need a quick, dependable way to confirm whether a student's bus fee is paid.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3282696"/>
            <a:ext cx="4434840" cy="4206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Human error, difficult defaulter identification and scattered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3794759"/>
            <a:ext cx="4434840" cy="4206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Use one secure database and a QR/Student ID lookup with clear payment status.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4366260"/>
            <a:ext cx="4434840" cy="4206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Students should board without unnecessary waiting or repeated checks.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4878324"/>
            <a:ext cx="4434840" cy="4206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Design a fast process, test with staff and students, and provide a fallback for connectivity issues.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5454396"/>
            <a:ext cx="4434840" cy="4206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Transport staff, students and accounts staff all depend on accurate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5966459"/>
            <a:ext cx="4434840" cy="4206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Keep access authorised, records updated, and communication simple for every user group.</a:t>
            </a:r>
          </a:p>
        </p:txBody>
      </p:sp>
    </p:spTree>
    <p:extLst>
      <p:ext uri="{BB962C8B-B14F-4D97-AF65-F5344CB8AC3E}">
        <p14:creationId xmlns:p14="http://schemas.microsoft.com/office/powerpoint/2010/main" val="4241248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T7 : Activity System Mapping</a:t>
            </a:r>
            <a:endParaRPr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328" y="959216"/>
            <a:ext cx="8298374" cy="5857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0" y="1463040"/>
            <a:ext cx="301752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32323"/>
                </a:solidFill>
                <a:latin typeface="Arial"/>
              </a:defRPr>
            </a:pPr>
            <a:r>
              <a:rPr lang="en-US" sz="1100" b="1">
                <a:solidFill>
                  <a:srgbClr val="232323"/>
                </a:solidFill>
                <a:latin typeface="Arial"/>
              </a:rPr>
              <a:t>OBJECTIVE: Verify bus-fee status quickly and accurately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01952"/>
            <a:ext cx="1133856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Strategy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Digitise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1104" y="1901952"/>
            <a:ext cx="1133856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Strategy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Scan ID/QR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1" y="1901952"/>
            <a:ext cx="1133856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Strategy 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Show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1901952"/>
            <a:ext cx="1133856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Strategy 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Track &amp;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776472"/>
            <a:ext cx="1097280" cy="265176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Register student</a:t>
            </a:r>
          </a:p>
          <a:p>
            <a:pPr algn="ctr">
              <a:spcBef>
                <a:spcPts val="6048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Store student ID</a:t>
            </a:r>
          </a:p>
          <a:p>
            <a:pPr algn="ctr">
              <a:spcBef>
                <a:spcPts val="6048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Link fee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256" y="4142231"/>
            <a:ext cx="1097280" cy="265176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Capture payment</a:t>
            </a:r>
          </a:p>
          <a:p>
            <a:pPr algn="ctr">
              <a:spcBef>
                <a:spcPts val="5976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Update database</a:t>
            </a:r>
          </a:p>
          <a:p>
            <a:pPr algn="ctr">
              <a:spcBef>
                <a:spcPts val="5976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Check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7096" y="3776472"/>
            <a:ext cx="1097280" cy="265176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Scan QR / ID</a:t>
            </a:r>
          </a:p>
          <a:p>
            <a:pPr algn="ctr">
              <a:spcBef>
                <a:spcPts val="6048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Fetch student</a:t>
            </a:r>
          </a:p>
          <a:p>
            <a:pPr algn="ctr">
              <a:spcBef>
                <a:spcPts val="6048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Validate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3776472"/>
            <a:ext cx="1097280" cy="265176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Show paid/pending</a:t>
            </a:r>
          </a:p>
          <a:p>
            <a:pPr algn="ctr">
              <a:spcBef>
                <a:spcPts val="6048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Flag defaulter</a:t>
            </a:r>
          </a:p>
          <a:p>
            <a:pPr algn="ctr">
              <a:spcBef>
                <a:spcPts val="6048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Give clear 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776472"/>
            <a:ext cx="1097280" cy="265176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Notify relevant user</a:t>
            </a:r>
          </a:p>
          <a:p>
            <a:pPr algn="ctr">
              <a:spcBef>
                <a:spcPts val="6048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Generate report</a:t>
            </a:r>
          </a:p>
          <a:p>
            <a:pPr algn="ctr">
              <a:spcBef>
                <a:spcPts val="6048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Review exceptions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6024" y="4142231"/>
            <a:ext cx="1097280" cy="2651760"/>
          </a:xfrm>
          <a:prstGeom prst="rect">
            <a:avLst/>
          </a:prstGeom>
          <a:noFill/>
        </p:spPr>
        <p:txBody>
          <a:bodyPr wrap="square" lIns="18288" tIns="0" rIns="18288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Secure access</a:t>
            </a:r>
          </a:p>
          <a:p>
            <a:pPr algn="ctr">
              <a:spcBef>
                <a:spcPts val="5976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Back up records</a:t>
            </a:r>
          </a:p>
          <a:p>
            <a:pPr algn="ctr">
              <a:spcBef>
                <a:spcPts val="5976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Handle offline case</a:t>
            </a:r>
          </a:p>
        </p:txBody>
      </p:sp>
    </p:spTree>
    <p:extLst>
      <p:ext uri="{BB962C8B-B14F-4D97-AF65-F5344CB8AC3E}">
        <p14:creationId xmlns:p14="http://schemas.microsoft.com/office/powerpoint/2010/main" val="778961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T8 : Key Components of Activity System</a:t>
            </a:r>
            <a:endParaRPr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1818" y="1442558"/>
            <a:ext cx="6992788" cy="49963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914400"/>
            <a:ext cx="384048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275D2A"/>
                </a:solidFill>
                <a:latin typeface="Arial"/>
              </a:defRPr>
            </a:pPr>
            <a:r>
              <a:rPr lang="en-US" sz="1200" b="1">
                <a:solidFill>
                  <a:srgbClr val="275D2A"/>
                </a:solidFill>
                <a:latin typeface="Arial"/>
              </a:rPr>
              <a:t>SMART BUS FEE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9950" y="3528060"/>
            <a:ext cx="20116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2323"/>
                </a:solidFill>
                <a:latin typeface="Arial"/>
              </a:defRPr>
            </a:pPr>
            <a:r>
              <a:rPr lang="en-US" sz="1200" b="1" dirty="0">
                <a:solidFill>
                  <a:srgbClr val="232323"/>
                </a:solidFill>
                <a:latin typeface="Arial"/>
              </a:rPr>
              <a:t>Students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2323"/>
                </a:solidFill>
                <a:latin typeface="Arial"/>
              </a:defRPr>
            </a:pPr>
            <a:r>
              <a:rPr lang="en-US" sz="1200" b="1" dirty="0">
                <a:solidFill>
                  <a:srgbClr val="232323"/>
                </a:solidFill>
                <a:latin typeface="Arial"/>
              </a:rPr>
              <a:t>Student ID / 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07650" y="3561769"/>
            <a:ext cx="18288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2323"/>
                </a:solidFill>
                <a:latin typeface="Arial"/>
              </a:defRPr>
            </a:pPr>
            <a:r>
              <a:rPr lang="en-US" sz="1200" b="1" dirty="0">
                <a:solidFill>
                  <a:srgbClr val="232323"/>
                </a:solidFill>
                <a:latin typeface="Arial"/>
              </a:rPr>
              <a:t>Transport Officer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2323"/>
                </a:solidFill>
                <a:latin typeface="Arial"/>
              </a:defRPr>
            </a:pPr>
            <a:r>
              <a:rPr lang="en-US" sz="1200" b="1" dirty="0">
                <a:solidFill>
                  <a:srgbClr val="232323"/>
                </a:solidFill>
                <a:latin typeface="Arial"/>
              </a:rPr>
              <a:t>Checks payment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5252" y="2452724"/>
            <a:ext cx="18288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2323"/>
                </a:solidFill>
                <a:latin typeface="Arial"/>
              </a:defRPr>
            </a:pPr>
            <a:r>
              <a:rPr lang="en-US" sz="1200" b="1" dirty="0">
                <a:solidFill>
                  <a:srgbClr val="232323"/>
                </a:solidFill>
                <a:latin typeface="Arial"/>
              </a:rPr>
              <a:t>Bus Conductor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2323"/>
                </a:solidFill>
                <a:latin typeface="Arial"/>
              </a:defRPr>
            </a:pPr>
            <a:r>
              <a:rPr lang="en-US" sz="1200" b="1" dirty="0">
                <a:solidFill>
                  <a:srgbClr val="232323"/>
                </a:solidFill>
                <a:latin typeface="Arial"/>
              </a:rPr>
              <a:t>Boards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4320" y="4480560"/>
            <a:ext cx="20116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2323"/>
                </a:solidFill>
                <a:latin typeface="Arial"/>
              </a:defRPr>
            </a:pPr>
            <a:r>
              <a:rPr lang="en-US" sz="1200" b="1">
                <a:solidFill>
                  <a:srgbClr val="232323"/>
                </a:solidFill>
                <a:latin typeface="Arial"/>
              </a:rPr>
              <a:t>Secure Database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2323"/>
                </a:solidFill>
                <a:latin typeface="Arial"/>
              </a:defRPr>
            </a:pPr>
            <a:r>
              <a:rPr lang="en-US" sz="1200" b="1">
                <a:solidFill>
                  <a:srgbClr val="232323"/>
                </a:solidFill>
                <a:latin typeface="Arial"/>
              </a:rPr>
              <a:t>Fee-status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0903" y="4411064"/>
            <a:ext cx="18288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2323"/>
                </a:solidFill>
                <a:latin typeface="Arial"/>
              </a:defRPr>
            </a:pPr>
            <a:r>
              <a:rPr lang="en-US" sz="1200" b="1" dirty="0">
                <a:solidFill>
                  <a:srgbClr val="232323"/>
                </a:solidFill>
                <a:latin typeface="Arial"/>
              </a:rPr>
              <a:t>Accounts Team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2323"/>
                </a:solidFill>
                <a:latin typeface="Arial"/>
              </a:defRPr>
            </a:pPr>
            <a:r>
              <a:rPr lang="en-US" sz="1200" b="1" dirty="0">
                <a:solidFill>
                  <a:srgbClr val="232323"/>
                </a:solidFill>
                <a:latin typeface="Arial"/>
              </a:rPr>
              <a:t>Updates 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2372" y="5356190"/>
            <a:ext cx="20116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2323"/>
                </a:solidFill>
                <a:latin typeface="Arial"/>
              </a:defRPr>
            </a:pPr>
            <a:r>
              <a:rPr lang="en-US" sz="1200" b="1">
                <a:solidFill>
                  <a:srgbClr val="232323"/>
                </a:solidFill>
                <a:latin typeface="Arial"/>
              </a:rPr>
              <a:t>College Admin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32323"/>
                </a:solidFill>
                <a:latin typeface="Arial"/>
              </a:defRPr>
            </a:pPr>
            <a:r>
              <a:rPr lang="en-US" sz="1200" b="1">
                <a:solidFill>
                  <a:srgbClr val="232323"/>
                </a:solidFill>
                <a:latin typeface="Arial"/>
              </a:rPr>
              <a:t>Policy &amp; oversight</a:t>
            </a:r>
          </a:p>
        </p:txBody>
      </p:sp>
    </p:spTree>
    <p:extLst>
      <p:ext uri="{BB962C8B-B14F-4D97-AF65-F5344CB8AC3E}">
        <p14:creationId xmlns:p14="http://schemas.microsoft.com/office/powerpoint/2010/main" val="1696798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T9 : Stakeholder Mapping Matrix</a:t>
            </a:r>
            <a:endParaRPr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360DAA-1D15-170D-5EEC-71A6DC58E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862" y="1044692"/>
            <a:ext cx="8954276" cy="531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89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T10 : Stakeholder Links &amp; Relationship Mapping</a:t>
            </a:r>
            <a:endParaRPr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82BF77-1FE3-0ED1-3589-9F89E4443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351" y="1172885"/>
            <a:ext cx="8512278" cy="52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97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T11 : Stakeholder Priority Mapping Matrix</a:t>
            </a:r>
            <a:endParaRPr sz="36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599" y="1357300"/>
            <a:ext cx="6499201" cy="51977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90672" y="3529584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Transport Officer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Bus Conductors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529584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Accounts Department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College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4937760"/>
            <a:ext cx="237744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32323"/>
                </a:solidFill>
                <a:latin typeface="Arial"/>
              </a:defRPr>
            </a:pPr>
            <a:r>
              <a:rPr lang="en-US" sz="1100" b="1">
                <a:solidFill>
                  <a:srgbClr val="232323"/>
                </a:solidFill>
                <a:latin typeface="Arial"/>
              </a:rPr>
              <a:t>Parents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4937760"/>
            <a:ext cx="237744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32323"/>
                </a:solidFill>
                <a:latin typeface="Arial"/>
              </a:defRPr>
            </a:pPr>
            <a:r>
              <a:rPr lang="en-US" sz="1100" b="1">
                <a:solidFill>
                  <a:srgbClr val="232323"/>
                </a:solidFill>
                <a:latin typeface="Arial"/>
              </a:rPr>
              <a:t>Students</a:t>
            </a:r>
          </a:p>
        </p:txBody>
      </p:sp>
    </p:spTree>
    <p:extLst>
      <p:ext uri="{BB962C8B-B14F-4D97-AF65-F5344CB8AC3E}">
        <p14:creationId xmlns:p14="http://schemas.microsoft.com/office/powerpoint/2010/main" val="1205531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T12 : Stakeholder Analysis &amp; Engagement Strategy</a:t>
            </a:r>
            <a:endParaRPr sz="32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rcRect b="35023"/>
          <a:stretch>
            <a:fillRect/>
          </a:stretch>
        </p:blipFill>
        <p:spPr>
          <a:xfrm>
            <a:off x="2804204" y="1231901"/>
            <a:ext cx="7628016" cy="35760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9503" y="1645920"/>
            <a:ext cx="1444751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Stakeholder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1453896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Role /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645920"/>
            <a:ext cx="1453896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Interest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645920"/>
            <a:ext cx="1453896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Influence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645920"/>
            <a:ext cx="1463040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Engagement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3" y="2441448"/>
            <a:ext cx="1444751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Transport Officer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41448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Verify fee status quickly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441448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441448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441448"/>
            <a:ext cx="1463040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Involve in testing; collect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9503" y="2821838"/>
            <a:ext cx="1444751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Bus Conductors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21838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Confirm boarding eligibility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821838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821838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821838"/>
            <a:ext cx="1463040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Short training and clear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9503" y="3202228"/>
            <a:ext cx="1444751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Students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202228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Fast, fair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202228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202228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202228"/>
            <a:ext cx="1463040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Explain QR/ID use and status messages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9503" y="3582619"/>
            <a:ext cx="1444751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Accounts Dept.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582619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Maintain correct payment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3582619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582619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582619"/>
            <a:ext cx="1463040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Agree on update process; review exceptions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9503" y="3963009"/>
            <a:ext cx="1444751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Parents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963009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Confidence in fee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3963009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963009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963009"/>
            <a:ext cx="1463040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Provide clear notices through college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9503" y="4343400"/>
            <a:ext cx="1444751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College 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343400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Reliable transport process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4343400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343400"/>
            <a:ext cx="1453896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343400"/>
            <a:ext cx="1463040" cy="380390"/>
          </a:xfrm>
          <a:prstGeom prst="rect">
            <a:avLst/>
          </a:prstGeom>
          <a:noFill/>
        </p:spPr>
        <p:txBody>
          <a:bodyPr wrap="square" lIns="27432" tIns="0" rIns="27432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323"/>
                </a:solidFill>
                <a:latin typeface="Arial"/>
              </a:defRPr>
            </a:pPr>
            <a:r>
              <a:rPr lang="en-US" sz="900" b="0">
                <a:solidFill>
                  <a:srgbClr val="232323"/>
                </a:solidFill>
                <a:latin typeface="Arial"/>
              </a:rPr>
              <a:t>Review reports and access policy</a:t>
            </a:r>
          </a:p>
        </p:txBody>
      </p:sp>
    </p:spTree>
    <p:extLst>
      <p:ext uri="{BB962C8B-B14F-4D97-AF65-F5344CB8AC3E}">
        <p14:creationId xmlns:p14="http://schemas.microsoft.com/office/powerpoint/2010/main" val="2732125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T13 : Project Brief &amp; Opportunity Framing</a:t>
            </a:r>
            <a:endParaRPr sz="32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844" y="1097133"/>
            <a:ext cx="7926736" cy="55953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0" y="3108960"/>
            <a:ext cx="5669280" cy="393192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Smart Bus Fee Verification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5247131"/>
            <a:ext cx="5669280" cy="188976"/>
          </a:xfrm>
          <a:prstGeom prst="rect">
            <a:avLst/>
          </a:prstGeom>
          <a:noFill/>
        </p:spPr>
        <p:txBody>
          <a:bodyPr wrap="square" lIns="73152" tIns="18288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32323"/>
                </a:solidFill>
                <a:latin typeface="Arial"/>
              </a:defRPr>
            </a:pPr>
            <a:r>
              <a:rPr lang="en-US" sz="1000" b="0">
                <a:solidFill>
                  <a:srgbClr val="232323"/>
                </a:solidFill>
                <a:latin typeface="Arial"/>
              </a:rPr>
              <a:t>Transport staff and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5490971"/>
            <a:ext cx="5669280" cy="188976"/>
          </a:xfrm>
          <a:prstGeom prst="rect">
            <a:avLst/>
          </a:prstGeom>
          <a:noFill/>
        </p:spPr>
        <p:txBody>
          <a:bodyPr wrap="square" lIns="73152" tIns="18288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32323"/>
                </a:solidFill>
                <a:latin typeface="Arial"/>
              </a:defRPr>
            </a:pPr>
            <a:r>
              <a:rPr lang="en-US" sz="1000" b="0">
                <a:solidFill>
                  <a:srgbClr val="232323"/>
                </a:solidFill>
                <a:latin typeface="Arial"/>
              </a:rPr>
              <a:t>Manual checking; queues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5734811"/>
            <a:ext cx="5669280" cy="188976"/>
          </a:xfrm>
          <a:prstGeom prst="rect">
            <a:avLst/>
          </a:prstGeom>
          <a:noFill/>
        </p:spPr>
        <p:txBody>
          <a:bodyPr wrap="square" lIns="73152" tIns="18288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32323"/>
                </a:solidFill>
                <a:latin typeface="Arial"/>
              </a:defRPr>
            </a:pPr>
            <a:r>
              <a:rPr lang="en-US" sz="1000" b="0">
                <a:solidFill>
                  <a:srgbClr val="232323"/>
                </a:solidFill>
                <a:latin typeface="Arial"/>
              </a:rPr>
              <a:t>Slow, error-prone fee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3931920" cy="393192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32323"/>
                </a:solidFill>
                <a:latin typeface="Arial"/>
              </a:defRPr>
            </a:pPr>
            <a:r>
              <a:rPr lang="en-US" sz="1000" b="0">
                <a:solidFill>
                  <a:srgbClr val="232323"/>
                </a:solidFill>
                <a:latin typeface="Arial"/>
              </a:rPr>
              <a:t>Primary user: Transport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13432"/>
            <a:ext cx="3931920" cy="402336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32323"/>
                </a:solidFill>
                <a:latin typeface="Arial"/>
              </a:defRPr>
            </a:pPr>
            <a:r>
              <a:rPr lang="en-US" sz="1000" b="0">
                <a:solidFill>
                  <a:srgbClr val="232323"/>
                </a:solidFill>
                <a:latin typeface="Arial"/>
              </a:rPr>
              <a:t>Secondary: students, conductors,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15768"/>
            <a:ext cx="3931920" cy="393192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32323"/>
                </a:solidFill>
                <a:latin typeface="Arial"/>
              </a:defRPr>
            </a:pPr>
            <a:r>
              <a:rPr lang="en-US" sz="1000" b="0">
                <a:solidFill>
                  <a:srgbClr val="232323"/>
                </a:solidFill>
                <a:latin typeface="Arial"/>
              </a:rPr>
              <a:t>Need: fast, accurate, secure payment-status 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087368"/>
            <a:ext cx="5669280" cy="188976"/>
          </a:xfrm>
          <a:prstGeom prst="rect">
            <a:avLst/>
          </a:prstGeom>
          <a:noFill/>
        </p:spPr>
        <p:txBody>
          <a:bodyPr wrap="square" lIns="73152" tIns="18288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32323"/>
                </a:solidFill>
                <a:latin typeface="Arial"/>
              </a:defRPr>
            </a:pPr>
            <a:r>
              <a:rPr lang="en-US" sz="1000" b="0">
                <a:solidFill>
                  <a:srgbClr val="232323"/>
                </a:solidFill>
                <a:latin typeface="Arial"/>
              </a:rPr>
              <a:t>Student registration; QR/ID scan; payment-status display; notifications; reports.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331208"/>
            <a:ext cx="5669280" cy="188976"/>
          </a:xfrm>
          <a:prstGeom prst="rect">
            <a:avLst/>
          </a:prstGeom>
          <a:noFill/>
        </p:spPr>
        <p:txBody>
          <a:bodyPr wrap="square" lIns="73152" tIns="18288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32323"/>
                </a:solidFill>
                <a:latin typeface="Arial"/>
              </a:defRPr>
            </a:pPr>
            <a:r>
              <a:rPr lang="en-US" sz="1000" b="0">
                <a:solidFill>
                  <a:srgbClr val="232323"/>
                </a:solidFill>
                <a:latin typeface="Arial"/>
              </a:rPr>
              <a:t>Use a secure database and a simple staff interface; verify in a few seconds.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599687"/>
            <a:ext cx="5669280" cy="188976"/>
          </a:xfrm>
          <a:prstGeom prst="rect">
            <a:avLst/>
          </a:prstGeom>
          <a:noFill/>
        </p:spPr>
        <p:txBody>
          <a:bodyPr wrap="square" lIns="73152" tIns="18288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32323"/>
                </a:solidFill>
                <a:latin typeface="Arial"/>
              </a:defRPr>
            </a:pPr>
            <a:r>
              <a:rPr lang="en-US" sz="1000" b="0">
                <a:solidFill>
                  <a:srgbClr val="232323"/>
                </a:solidFill>
                <a:latin typeface="Arial"/>
              </a:rPr>
              <a:t>Reduce manual work, boarding delays, human errors and scattered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843528"/>
            <a:ext cx="5669280" cy="188976"/>
          </a:xfrm>
          <a:prstGeom prst="rect">
            <a:avLst/>
          </a:prstGeom>
          <a:noFill/>
        </p:spPr>
        <p:txBody>
          <a:bodyPr wrap="square" lIns="73152" tIns="18288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32323"/>
                </a:solidFill>
                <a:latin typeface="Arial"/>
              </a:defRPr>
            </a:pPr>
            <a:r>
              <a:rPr lang="en-US" sz="1000" b="0">
                <a:solidFill>
                  <a:srgbClr val="232323"/>
                </a:solidFill>
                <a:latin typeface="Arial"/>
              </a:rPr>
              <a:t>A low-cost, easy-to-maintain prototype for college transport operations.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978651"/>
            <a:ext cx="5669280" cy="341375"/>
          </a:xfrm>
          <a:prstGeom prst="rect">
            <a:avLst/>
          </a:prstGeom>
          <a:noFill/>
        </p:spPr>
        <p:txBody>
          <a:bodyPr wrap="square" lIns="73152" tIns="18288" rIns="45720" bIns="18288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32323"/>
                </a:solidFill>
                <a:latin typeface="Arial"/>
              </a:defRPr>
            </a:pPr>
            <a:r>
              <a:rPr lang="en-US" sz="1000" b="0">
                <a:solidFill>
                  <a:srgbClr val="232323"/>
                </a:solidFill>
                <a:latin typeface="Arial"/>
              </a:rPr>
              <a:t>Success measures: shorter verification time, fewer errors, accurate payment records, and positive staff/student feedback.</a:t>
            </a:r>
          </a:p>
        </p:txBody>
      </p:sp>
    </p:spTree>
    <p:extLst>
      <p:ext uri="{BB962C8B-B14F-4D97-AF65-F5344CB8AC3E}">
        <p14:creationId xmlns:p14="http://schemas.microsoft.com/office/powerpoint/2010/main" val="1304850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T13 : Project Brief &amp; Opportunity Framing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(contd..)</a:t>
            </a:r>
            <a:endParaRPr sz="32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798" y="1276718"/>
            <a:ext cx="8260235" cy="53114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57800" y="1344168"/>
            <a:ext cx="5303520" cy="832103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A student arrives at the college bus; staff must confirm fee payment before boarding.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76272"/>
            <a:ext cx="5806440" cy="914400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Manual register checking and scattered payment information slow the queue.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090672"/>
            <a:ext cx="5806440" cy="905256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Student registration, secure fee database, QR/ID scanning, status display and reports.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995928"/>
            <a:ext cx="5806440" cy="822959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Student ID/QR, mobile device or scanner, internet, database, laptop and development tools.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818888"/>
            <a:ext cx="5806440" cy="914400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8–10 weeks; team of 3–4 student developers with transport/admin input.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733288"/>
            <a:ext cx="5806440" cy="850392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Connectivity issues, delayed payment updates, data privacy and staff training.</a:t>
            </a:r>
          </a:p>
        </p:txBody>
      </p:sp>
    </p:spTree>
    <p:extLst>
      <p:ext uri="{BB962C8B-B14F-4D97-AF65-F5344CB8AC3E}">
        <p14:creationId xmlns:p14="http://schemas.microsoft.com/office/powerpoint/2010/main" val="3416216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T14 : Project Brief &amp; Reframing Project Challenges</a:t>
            </a:r>
            <a:endParaRPr sz="32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149" y="1097133"/>
            <a:ext cx="8506125" cy="5501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0" y="1143000"/>
            <a:ext cx="6035040" cy="850392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How might we reduce the time needed to verify bus-fee payment?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993392"/>
            <a:ext cx="6035040" cy="932688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How might we make payment status accurate and easy to understand?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926080"/>
            <a:ext cx="6035040" cy="932687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How might we handle weak internet or delayed database updates?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858768"/>
            <a:ext cx="6035040" cy="850392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How might we protect student records while allowing fast staff access?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709160"/>
            <a:ext cx="6035040" cy="941831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How might we make the system affordable and simple to maintain?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650992"/>
            <a:ext cx="6035040" cy="932688"/>
          </a:xfrm>
          <a:prstGeom prst="rect">
            <a:avLst/>
          </a:prstGeom>
          <a:noFill/>
        </p:spPr>
        <p:txBody>
          <a:bodyPr wrap="square" lIns="73152" tIns="0" rIns="4572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32323"/>
                </a:solidFill>
                <a:latin typeface="Arial"/>
              </a:defRPr>
            </a:pPr>
            <a:r>
              <a:rPr lang="en-US" sz="1200" b="0">
                <a:solidFill>
                  <a:srgbClr val="232323"/>
                </a:solidFill>
                <a:latin typeface="Arial"/>
              </a:rPr>
              <a:t>How might we help transport staff identify pending fees without delaying others?</a:t>
            </a:r>
          </a:p>
        </p:txBody>
      </p:sp>
    </p:spTree>
    <p:extLst>
      <p:ext uri="{BB962C8B-B14F-4D97-AF65-F5344CB8AC3E}">
        <p14:creationId xmlns:p14="http://schemas.microsoft.com/office/powerpoint/2010/main" val="2734738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1280160" y="20116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27432" bIns="2743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T15 : Reframing the Opportunities</a:t>
            </a:r>
            <a:endParaRPr sz="32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5400000">
            <a:off x="4452059" y="440715"/>
            <a:ext cx="4332307" cy="709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291840" y="1874519"/>
            <a:ext cx="23774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75D2A"/>
                </a:solidFill>
                <a:latin typeface="Arial"/>
              </a:defRPr>
            </a:pPr>
            <a:r>
              <a:rPr lang="en-US" sz="1200" b="1">
                <a:solidFill>
                  <a:srgbClr val="275D2A"/>
                </a:solidFill>
                <a:latin typeface="Arial"/>
              </a:rPr>
              <a:t>Reframe our opportunities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75D2A"/>
                </a:solidFill>
                <a:latin typeface="Arial"/>
              </a:defRPr>
            </a:pPr>
            <a:r>
              <a:rPr lang="en-US" sz="1200" b="1">
                <a:solidFill>
                  <a:srgbClr val="275D2A"/>
                </a:solidFill>
                <a:latin typeface="Arial"/>
              </a:rPr>
              <a:t>and focus our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5212080"/>
            <a:ext cx="25146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232323"/>
                </a:solidFill>
                <a:latin typeface="Arial"/>
              </a:defRPr>
            </a:pPr>
            <a:r>
              <a:rPr lang="en-US" sz="1100" b="0">
                <a:solidFill>
                  <a:srgbClr val="232323"/>
                </a:solidFill>
                <a:latin typeface="Arial"/>
              </a:rPr>
              <a:t>1. How might we verify payment in seconds?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232323"/>
                </a:solidFill>
                <a:latin typeface="Arial"/>
              </a:defRPr>
            </a:pPr>
            <a:r>
              <a:rPr lang="en-US" sz="1100" b="0">
                <a:solidFill>
                  <a:srgbClr val="232323"/>
                </a:solidFill>
                <a:latin typeface="Arial"/>
              </a:rPr>
              <a:t>2. How might we reduce manual errors?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232323"/>
                </a:solidFill>
                <a:latin typeface="Arial"/>
              </a:defRPr>
            </a:pPr>
            <a:r>
              <a:rPr lang="en-US" sz="1100" b="0">
                <a:solidFill>
                  <a:srgbClr val="232323"/>
                </a:solidFill>
                <a:latin typeface="Arial"/>
              </a:rPr>
              <a:t>3. How might we keep records secure?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2651760"/>
            <a:ext cx="164592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User need: quick, clear fee confirmation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3657600"/>
            <a:ext cx="164592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Technical fit: QR/ID + secure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4663440"/>
            <a:ext cx="164592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32323"/>
                </a:solidFill>
                <a:latin typeface="Arial"/>
              </a:defRPr>
            </a:pPr>
            <a:r>
              <a:rPr lang="en-US" sz="1000" b="1">
                <a:solidFill>
                  <a:srgbClr val="232323"/>
                </a:solidFill>
                <a:latin typeface="Arial"/>
              </a:rPr>
              <a:t>Operational fit: low cost and easy to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547872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5D2A"/>
                </a:solidFill>
                <a:latin typeface="Arial"/>
              </a:defRPr>
            </a:pPr>
            <a:r>
              <a:rPr lang="en-US" sz="1000" b="1">
                <a:solidFill>
                  <a:srgbClr val="275D2A"/>
                </a:solidFill>
                <a:latin typeface="Arial"/>
              </a:rPr>
              <a:t>Opportunity: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75D2A"/>
                </a:solidFill>
                <a:latin typeface="Arial"/>
              </a:defRPr>
            </a:pPr>
            <a:r>
              <a:rPr lang="en-US" sz="1000" b="1">
                <a:solidFill>
                  <a:srgbClr val="275D2A"/>
                </a:solidFill>
                <a:latin typeface="Arial"/>
              </a:rPr>
              <a:t>Fast, accurate verification</a:t>
            </a:r>
          </a:p>
        </p:txBody>
      </p:sp>
    </p:spTree>
    <p:extLst>
      <p:ext uri="{BB962C8B-B14F-4D97-AF65-F5344CB8AC3E}">
        <p14:creationId xmlns:p14="http://schemas.microsoft.com/office/powerpoint/2010/main" val="1717595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2664439" y="973523"/>
            <a:ext cx="7023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</a:t>
            </a:r>
            <a:r>
              <a:rPr lang="en-US" sz="4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ces</a:t>
            </a:r>
            <a:endParaRPr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5A788"/>
                </a:buClr>
                <a:buSzPts val="1400"/>
                <a:buFont typeface="Noto Sans Symbols"/>
                <a:buNone/>
              </a:pPr>
              <a:t>17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9E55AE-79FB-F813-CE9E-57FA9BD8E054}"/>
              </a:ext>
            </a:extLst>
          </p:cNvPr>
          <p:cNvSpPr txBox="1"/>
          <p:nvPr/>
        </p:nvSpPr>
        <p:spPr>
          <a:xfrm>
            <a:off x="2651760" y="2057400"/>
            <a:ext cx="7315200" cy="2926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lang="en-US" sz="1800">
                <a:solidFill>
                  <a:srgbClr val="232323"/>
                </a:solidFill>
                <a:latin typeface="Arial"/>
              </a:rPr>
              <a:t>□  IDEO Design Thinking Process</a:t>
            </a:r>
            <a:endParaRPr lang="en-US" sz="1800" dirty="0"/>
          </a:p>
          <a:p>
            <a:pPr algn="l"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lang="en-US" sz="1800">
                <a:solidFill>
                  <a:srgbClr val="232323"/>
                </a:solidFill>
                <a:latin typeface="Arial"/>
              </a:rPr>
              <a:t>□  Interaction Design Foundation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lang="en-US" sz="1800">
                <a:solidFill>
                  <a:srgbClr val="232323"/>
                </a:solidFill>
                <a:latin typeface="Arial"/>
              </a:rPr>
              <a:t>□  Nielsen Norman Group – UX Research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lang="en-US" sz="1800">
                <a:solidFill>
                  <a:srgbClr val="232323"/>
                </a:solidFill>
                <a:latin typeface="Arial"/>
              </a:rPr>
              <a:t>□  Discussion with Senior Transport Officer (Sakthivel)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lang="en-US" sz="1800">
                <a:solidFill>
                  <a:srgbClr val="232323"/>
                </a:solidFill>
                <a:latin typeface="Arial"/>
              </a:rPr>
              <a:t>□  College Design Thinking Lab Notes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rPr lang="en-US" sz="1800">
                <a:solidFill>
                  <a:srgbClr val="232323"/>
                </a:solidFill>
                <a:latin typeface="Arial"/>
              </a:rPr>
              <a:t>□  QR code / student-ID verification and secure database concepts</a:t>
            </a:r>
          </a:p>
        </p:txBody>
      </p:sp>
    </p:spTree>
    <p:extLst>
      <p:ext uri="{BB962C8B-B14F-4D97-AF65-F5344CB8AC3E}">
        <p14:creationId xmlns:p14="http://schemas.microsoft.com/office/powerpoint/2010/main" val="1999667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11722" y="137569"/>
          <a:ext cx="10942856" cy="6487152"/>
        </p:xfrm>
        <a:graphic>
          <a:graphicData uri="http://schemas.openxmlformats.org/drawingml/2006/table">
            <a:tbl>
              <a:tblPr/>
              <a:tblGrid>
                <a:gridCol w="1644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3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7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7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9982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i="0" u="none" strike="noStrike" cap="none" dirty="0">
                          <a:solidFill>
                            <a:schemeClr val="tx1"/>
                          </a:solidFill>
                          <a:latin typeface="Times New Roman"/>
                          <a:ea typeface="Bookman Uralic"/>
                          <a:cs typeface="Bookman Uralic"/>
                          <a:sym typeface="Arial"/>
                        </a:rPr>
                        <a:t>Ex. No. </a:t>
                      </a:r>
                      <a:r>
                        <a:rPr lang="en-US" sz="2000" b="1" i="0" u="none" strike="noStrike" cap="none">
                          <a:solidFill>
                            <a:schemeClr val="tx1"/>
                          </a:solidFill>
                          <a:latin typeface="Times New Roman"/>
                          <a:ea typeface="Bookman Uralic"/>
                          <a:cs typeface="Bookman Uralic"/>
                          <a:sym typeface="Arial"/>
                        </a:rPr>
                        <a:t>: 2 </a:t>
                      </a:r>
                      <a:endParaRPr lang="en-US" sz="2000" b="1" i="0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Bookman Uralic"/>
                        <a:cs typeface="Bookman Uralic"/>
                        <a:sym typeface="Arial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>
                          <a:solidFill>
                            <a:schemeClr val="tx1"/>
                          </a:solidFill>
                          <a:latin typeface="Times New Roman"/>
                          <a:ea typeface="Bookman Uralic"/>
                          <a:cs typeface="Bookman Uralic"/>
                          <a:sym typeface="Arial"/>
                        </a:rPr>
                        <a:t>Description</a:t>
                      </a: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Reg. No.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417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Conduct of Experiment</a:t>
                      </a:r>
                      <a:r>
                        <a:rPr lang="en-US" sz="2000" b="1" kern="100">
                          <a:solidFill>
                            <a:srgbClr val="000000"/>
                          </a:solidFill>
                          <a:latin typeface="Times New Roman"/>
                          <a:ea typeface="Bookman Uralic"/>
                          <a:cs typeface="Bookman Uralic"/>
                        </a:rPr>
                        <a:t> </a:t>
                      </a:r>
                      <a:r>
                        <a:rPr lang="en-IN" sz="2000" b="1" kern="100">
                          <a:solidFill>
                            <a:srgbClr val="000000"/>
                          </a:solidFill>
                          <a:latin typeface="Times New Roman"/>
                          <a:ea typeface="Bookman Uralic"/>
                          <a:cs typeface="Bookman Uralic"/>
                        </a:rPr>
                        <a:t>(30)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 dirty="0">
                          <a:latin typeface="Times New Roman"/>
                          <a:ea typeface="Bookman Uralic"/>
                          <a:cs typeface="Bookman Uralic"/>
                        </a:rPr>
                        <a:t>Empathize: Conduct user research to identify genuine needs. (5)</a:t>
                      </a: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 dirty="0">
                          <a:latin typeface="Times New Roman"/>
                          <a:ea typeface="Bookman Uralic"/>
                          <a:cs typeface="Bookman Uralic"/>
                        </a:rPr>
                        <a:t>Define: Frame the right problem using insights. (10)</a:t>
                      </a: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Ideate: Create creative solutions. (10)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1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Prototype: Model Creation (5)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148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Presentation (20)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Presentation &amp; Reflection (10)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8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Depth of Research &amp; Preparation (10)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7148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Viva (10)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>
                          <a:latin typeface="Times New Roman"/>
                          <a:ea typeface="Bookman Uralic"/>
                          <a:cs typeface="Bookman Uralic"/>
                        </a:rPr>
                        <a:t>Communication &amp; Clarity (5)</a:t>
                      </a: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99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 dirty="0">
                          <a:latin typeface="Times New Roman"/>
                          <a:ea typeface="Bookman Uralic"/>
                          <a:cs typeface="Bookman Uralic"/>
                        </a:rPr>
                        <a:t>Response to Questions (5)</a:t>
                      </a: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9982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b="1" dirty="0">
                          <a:latin typeface="Times New Roman"/>
                          <a:ea typeface="Bookman Uralic"/>
                          <a:cs typeface="Bookman Uralic"/>
                        </a:rPr>
                        <a:t>Faculty Signature</a:t>
                      </a: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000" dirty="0">
                        <a:latin typeface="Bookman Uralic"/>
                        <a:ea typeface="Bookman Uralic"/>
                        <a:cs typeface="Bookman Uralic"/>
                      </a:endParaRPr>
                    </a:p>
                  </a:txBody>
                  <a:tcPr marL="66562" marR="665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2423</TotalTime>
  <Words>1232</Words>
  <Application>Microsoft Office PowerPoint</Application>
  <PresentationFormat>Widescreen</PresentationFormat>
  <Paragraphs>254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Bookman Uralic</vt:lpstr>
      <vt:lpstr>Calibri</vt:lpstr>
      <vt:lpstr>Noto Sans Symbols</vt:lpstr>
      <vt:lpstr>Times New Roman</vt:lpstr>
      <vt:lpstr>Flow</vt:lpstr>
      <vt:lpstr>Smart Bus Fee Verification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 1:  Develop SCOPES template for your design challenge</dc:title>
  <dc:creator>kavinkumar M</dc:creator>
  <cp:lastModifiedBy>HARINI. P</cp:lastModifiedBy>
  <cp:revision>69</cp:revision>
  <dcterms:created xsi:type="dcterms:W3CDTF">2021-04-21T15:36:00Z</dcterms:created>
  <dcterms:modified xsi:type="dcterms:W3CDTF">2026-10-09T08:20:44Z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37A3327C92E44D8A8E230645E01DA062</vt:lpwstr>
  </property>
  <property fmtid="{D5CDD505-2E9C-101B-9397-08002B2CF9AE}" pid="3" name="KSOProductBuildVer">
    <vt:lpwstr>1033-11.2.0.11537</vt:lpwstr>
  </property>
</Properties>
</file>