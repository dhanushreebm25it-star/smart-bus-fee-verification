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7" r:id="rId3"/>
    <p:sldId id="271" r:id="rId4"/>
    <p:sldId id="272" r:id="rId5"/>
    <p:sldId id="273" r:id="rId6"/>
    <p:sldId id="274" r:id="rId7"/>
    <p:sldId id="275" r:id="rId8"/>
    <p:sldId id="276" r:id="rId9"/>
    <p:sldId id="257" r:id="rId10"/>
    <p:sldId id="258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jSRRlCFA/cW3kQ7Z8qFsYPlG0g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0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1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" name="Google Shape;82;p1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30 June 2023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1-59</a:t>
            </a:r>
            <a:endParaRPr/>
          </a:p>
        </p:txBody>
      </p:sp>
      <p:sp>
        <p:nvSpPr>
          <p:cNvPr id="84" name="Google Shape;8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t>1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472131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024357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25257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501876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955284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472131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t>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024357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77" name="Google Shape;77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84" name="Google Shape;84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4"/>
          <p:cNvSpPr txBox="1"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4"/>
          <p:cNvSpPr txBox="1"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24"/>
          <p:cNvSpPr txBox="1">
            <a:spLocks noGrp="1"/>
          </p:cNvSpPr>
          <p:nvPr>
            <p:ph type="body" idx="2"/>
          </p:nvPr>
        </p:nvSpPr>
        <p:spPr>
          <a:xfrm>
            <a:off x="6193368" y="1859758"/>
            <a:ext cx="5389033" cy="654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7;p24"/>
          <p:cNvSpPr txBox="1">
            <a:spLocks noGrp="1"/>
          </p:cNvSpPr>
          <p:nvPr>
            <p:ph type="body" idx="3"/>
          </p:nvPr>
        </p:nvSpPr>
        <p:spPr>
          <a:xfrm>
            <a:off x="609600" y="2514600"/>
            <a:ext cx="5386917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4"/>
          <p:cNvSpPr txBox="1">
            <a:spLocks noGrp="1"/>
          </p:cNvSpPr>
          <p:nvPr>
            <p:ph type="body" idx="4"/>
          </p:nvPr>
        </p:nvSpPr>
        <p:spPr>
          <a:xfrm>
            <a:off x="6193368" y="2514600"/>
            <a:ext cx="5389033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79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7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8"/>
          <p:cNvSpPr txBox="1"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Arial"/>
              <a:buNone/>
              <a:defRPr sz="5600" b="1" cap="none">
                <a:solidFill>
                  <a:srgbClr val="4AE3A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8"/>
          <p:cNvSpPr txBox="1"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22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8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9"/>
          <p:cNvSpPr txBox="1"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9"/>
          <p:cNvSpPr txBox="1">
            <a:spLocks noGrp="1"/>
          </p:cNvSpPr>
          <p:nvPr>
            <p:ph type="body" idx="1"/>
          </p:nvPr>
        </p:nvSpPr>
        <p:spPr>
          <a:xfrm>
            <a:off x="609600" y="1920085"/>
            <a:ext cx="53848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9"/>
          <p:cNvSpPr txBox="1">
            <a:spLocks noGrp="1"/>
          </p:cNvSpPr>
          <p:nvPr>
            <p:ph type="body" idx="2"/>
          </p:nvPr>
        </p:nvSpPr>
        <p:spPr>
          <a:xfrm>
            <a:off x="6197600" y="1920085"/>
            <a:ext cx="53848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9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1"/>
          <p:cNvSpPr txBox="1"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None/>
              <a:defRPr sz="26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1"/>
          <p:cNvSpPr txBox="1">
            <a:spLocks noGrp="1"/>
          </p:cNvSpPr>
          <p:nvPr>
            <p:ph type="body" idx="1"/>
          </p:nvPr>
        </p:nvSpPr>
        <p:spPr>
          <a:xfrm>
            <a:off x="914400" y="1676400"/>
            <a:ext cx="3657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45700" rIns="1827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31"/>
          <p:cNvSpPr txBox="1">
            <a:spLocks noGrp="1"/>
          </p:cNvSpPr>
          <p:nvPr>
            <p:ph type="body" idx="2"/>
          </p:nvPr>
        </p:nvSpPr>
        <p:spPr>
          <a:xfrm>
            <a:off x="4766733" y="1676400"/>
            <a:ext cx="681566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7084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Char char="⮚"/>
              <a:defRPr sz="2800"/>
            </a:lvl1pPr>
            <a:lvl2pPr marL="914400" lvl="1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2pPr>
            <a:lvl3pPr marL="1371600" lvl="2" indent="-35051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3pPr>
            <a:lvl4pPr marL="182880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3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1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2"/>
          <p:cNvSpPr/>
          <p:nvPr/>
        </p:nvSpPr>
        <p:spPr>
          <a:xfrm rot="-10380000" flipH="1">
            <a:off x="4220633" y="1108075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500" dir="7500000" sx="98500" sy="100080" kx="100000" algn="tl" rotWithShape="0">
              <a:srgbClr val="000000">
                <a:alpha val="2431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2"/>
          <p:cNvSpPr/>
          <p:nvPr/>
        </p:nvSpPr>
        <p:spPr>
          <a:xfrm rot="-10380000" flipH="1">
            <a:off x="10672234" y="5359401"/>
            <a:ext cx="207433" cy="155575"/>
          </a:xfrm>
          <a:prstGeom prst="rtTriangle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bevel/>
            <a:headEnd type="none" w="sm" len="sm"/>
            <a:tailEnd type="none" w="sm" len="sm"/>
          </a:ln>
          <a:effectLst>
            <a:outerShdw blurRad="19685" dist="6350" dir="12900000" algn="tl" rotWithShape="0">
              <a:srgbClr val="000000">
                <a:alpha val="4627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2"/>
          <p:cNvSpPr/>
          <p:nvPr/>
        </p:nvSpPr>
        <p:spPr>
          <a:xfrm rot="10800000" flipH="1">
            <a:off x="-12700" y="5816600"/>
            <a:ext cx="1221740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313"/>
                </a:srgbClr>
              </a:gs>
              <a:gs pos="100000">
                <a:srgbClr val="00E9F7">
                  <a:alpha val="54509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2"/>
          <p:cNvSpPr/>
          <p:nvPr/>
        </p:nvSpPr>
        <p:spPr>
          <a:xfrm rot="10800000" flipH="1">
            <a:off x="5842000" y="6219826"/>
            <a:ext cx="63500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411"/>
                </a:srgbClr>
              </a:gs>
              <a:gs pos="80000">
                <a:srgbClr val="0099E4">
                  <a:alpha val="44313"/>
                </a:srgbClr>
              </a:gs>
              <a:gs pos="100000">
                <a:srgbClr val="0099E4">
                  <a:alpha val="44313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2"/>
          <p:cNvSpPr txBox="1"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sz="20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2"/>
          <p:cNvSpPr txBox="1">
            <a:spLocks noGrp="1"/>
          </p:cNvSpPr>
          <p:nvPr>
            <p:ph type="body" idx="1"/>
          </p:nvPr>
        </p:nvSpPr>
        <p:spPr>
          <a:xfrm>
            <a:off x="812800" y="2828785"/>
            <a:ext cx="2946400" cy="217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Arial"/>
              <a:buNone/>
              <a:defRPr sz="1300"/>
            </a:lvl1pPr>
            <a:lvl2pPr marL="914400" lvl="1" indent="-28956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Char char="⮚"/>
              <a:defRPr sz="1200"/>
            </a:lvl2pPr>
            <a:lvl3pPr marL="1371600" lvl="2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⮚"/>
              <a:defRPr sz="1000"/>
            </a:lvl3pPr>
            <a:lvl4pPr marL="1828800" lvl="3" indent="-274319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4pPr>
            <a:lvl5pPr marL="2286000" lvl="4" indent="-27432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32"/>
          <p:cNvSpPr>
            <a:spLocks noGrp="1"/>
          </p:cNvSpPr>
          <p:nvPr>
            <p:ph type="pic" idx="2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lt2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" name="Google Shape;63;p3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2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3"/>
          <p:cNvSpPr txBox="1"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3"/>
          <p:cNvSpPr txBox="1">
            <a:spLocks noGrp="1"/>
          </p:cNvSpPr>
          <p:nvPr>
            <p:ph type="body" idx="1"/>
          </p:nvPr>
        </p:nvSpPr>
        <p:spPr>
          <a:xfrm rot="5400000">
            <a:off x="3901282" y="-1356518"/>
            <a:ext cx="4389437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3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33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4"/>
          <p:cNvSpPr txBox="1">
            <a:spLocks noGrp="1"/>
          </p:cNvSpPr>
          <p:nvPr>
            <p:ph type="title"/>
          </p:nvPr>
        </p:nvSpPr>
        <p:spPr>
          <a:xfrm rot="5400000">
            <a:off x="7604919" y="2148684"/>
            <a:ext cx="5211763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4"/>
          <p:cNvSpPr txBox="1">
            <a:spLocks noGrp="1"/>
          </p:cNvSpPr>
          <p:nvPr>
            <p:ph type="body" idx="1"/>
          </p:nvPr>
        </p:nvSpPr>
        <p:spPr>
          <a:xfrm rot="5400000">
            <a:off x="2016919" y="-492917"/>
            <a:ext cx="5211763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3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4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0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609600" y="1935164"/>
            <a:ext cx="109728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0039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9879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6" r:id="rId5"/>
    <p:sldLayoutId id="2147483657" r:id="rId6"/>
    <p:sldLayoutId id="2147483658" r:id="rId7"/>
    <p:sldLayoutId id="2147483659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>
            <a:spLocks noGrp="1"/>
          </p:cNvSpPr>
          <p:nvPr>
            <p:ph type="title"/>
          </p:nvPr>
        </p:nvSpPr>
        <p:spPr>
          <a:xfrm>
            <a:off x="3813603" y="63741"/>
            <a:ext cx="8286382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SMART BUS VARIFICATION SYSTEM</a:t>
            </a:r>
            <a:endParaRPr sz="36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87" name="Google Shape;87;p1"/>
          <p:cNvSpPr txBox="1">
            <a:spLocks noGrp="1"/>
          </p:cNvSpPr>
          <p:nvPr>
            <p:ph type="body" idx="1"/>
          </p:nvPr>
        </p:nvSpPr>
        <p:spPr>
          <a:xfrm>
            <a:off x="1472513" y="2121013"/>
            <a:ext cx="4040100" cy="6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60"/>
              <a:buNone/>
            </a:pPr>
            <a:endParaRPr sz="3200" dirty="0">
              <a:solidFill>
                <a:srgbClr val="B9077E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9077E"/>
              </a:buClr>
              <a:buSzPts val="2560"/>
              <a:buNone/>
            </a:pPr>
            <a:r>
              <a:rPr lang="en-US" sz="3200" dirty="0">
                <a:solidFill>
                  <a:srgbClr val="B9077E"/>
                </a:solidFill>
              </a:rPr>
              <a:t>    </a:t>
            </a:r>
            <a:endParaRPr sz="3200" dirty="0"/>
          </a:p>
        </p:txBody>
      </p:sp>
      <p:pic>
        <p:nvPicPr>
          <p:cNvPr id="88" name="Google Shape;88;p1" descr="klogo copy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6851" y="1589512"/>
            <a:ext cx="1374775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/>
          <p:nvPr/>
        </p:nvSpPr>
        <p:spPr>
          <a:xfrm>
            <a:off x="5853776" y="1302526"/>
            <a:ext cx="5353200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800" i="0" u="none" strike="noStrike" cap="none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MEMBERS : </a:t>
            </a:r>
            <a:r>
              <a:rPr lang="en-US" sz="1800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DHANU SHREE (25ITR021)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800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ESAIMOZHI M (25ITR033)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800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HARINI P (25ITR041)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800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HARINI SREE (25ITR042)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1800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INBARASI E (25ITR048) </a:t>
            </a:r>
            <a:endParaRPr sz="180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0632156"/>
              </p:ext>
            </p:extLst>
          </p:nvPr>
        </p:nvGraphicFramePr>
        <p:xfrm>
          <a:off x="4561840" y="3243136"/>
          <a:ext cx="7538145" cy="24711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73472">
                  <a:extLst>
                    <a:ext uri="{9D8B030D-6E8A-4147-A177-3AD203B41FA5}">
                      <a16:colId xmlns:a16="http://schemas.microsoft.com/office/drawing/2014/main" val="3781455394"/>
                    </a:ext>
                  </a:extLst>
                </a:gridCol>
                <a:gridCol w="279271">
                  <a:extLst>
                    <a:ext uri="{9D8B030D-6E8A-4147-A177-3AD203B41FA5}">
                      <a16:colId xmlns:a16="http://schemas.microsoft.com/office/drawing/2014/main" val="3786070190"/>
                    </a:ext>
                  </a:extLst>
                </a:gridCol>
                <a:gridCol w="5585402">
                  <a:extLst>
                    <a:ext uri="{9D8B030D-6E8A-4147-A177-3AD203B41FA5}">
                      <a16:colId xmlns:a16="http://schemas.microsoft.com/office/drawing/2014/main" val="2962891905"/>
                    </a:ext>
                  </a:extLst>
                </a:gridCol>
              </a:tblGrid>
              <a:tr h="366908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COURSE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24ITL34 – DESIGN THINKING LABORATORY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15757501"/>
                  </a:ext>
                </a:extLst>
              </a:tr>
              <a:tr h="366908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EXERCISE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i="0" u="none" strike="noStrike" cap="none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5 – CREATE USER PERSONAS FOR YOUR PRODUCT OR SERVICE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6-DEVELOP SCAMPER  TEMPLATE FOR IDEATION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7- CREATE USER SCENARIO/STORY TELLING FOR YOUR PRODUCT OR SERVICE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37360398"/>
                  </a:ext>
                </a:extLst>
              </a:tr>
              <a:tr h="366908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23/10/2026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69659261"/>
                  </a:ext>
                </a:extLst>
              </a:tr>
            </a:tbl>
          </a:graphicData>
        </a:graphic>
      </p:graphicFrame>
      <p:pic>
        <p:nvPicPr>
          <p:cNvPr id="8" name="Picture 2" descr="C:\Users\govin\Downloads\image-removebg-preview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-379446" y="4851132"/>
            <a:ext cx="4094797" cy="100604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5;p2"/>
          <p:cNvSpPr/>
          <p:nvPr/>
        </p:nvSpPr>
        <p:spPr>
          <a:xfrm>
            <a:off x="0" y="24555"/>
            <a:ext cx="12066814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2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T25: SPICE Framework for Understanding &amp; Uncovering Deep User Needs</a:t>
            </a:r>
            <a:endParaRPr lang="en-US" sz="3200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AF911E-C50F-4B5C-65BA-885BB00A86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2863" y="1101732"/>
            <a:ext cx="7286273" cy="5443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99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5;p2"/>
          <p:cNvSpPr/>
          <p:nvPr/>
        </p:nvSpPr>
        <p:spPr>
          <a:xfrm>
            <a:off x="751114" y="24555"/>
            <a:ext cx="1131570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6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T25: SPICE Framework for Understanding &amp; Uncovering Deep User Needs</a:t>
            </a:r>
            <a:endParaRPr lang="en-US" sz="3600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5884AC-88F1-5B82-BFCA-ECCFAC2A21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3177" y="1224843"/>
            <a:ext cx="9596849" cy="5633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65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5;p2"/>
          <p:cNvSpPr/>
          <p:nvPr/>
        </p:nvSpPr>
        <p:spPr>
          <a:xfrm>
            <a:off x="876300" y="50982"/>
            <a:ext cx="113157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T26: Sample Need </a:t>
            </a:r>
            <a:r>
              <a:rPr lang="en-US" sz="2400" b="1" i="0" u="none" strike="noStrike" cap="none" dirty="0" err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Statments</a:t>
            </a:r>
            <a:r>
              <a:rPr lang="en-US" sz="24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sz="2400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31E0F7-D496-C746-52A0-130393AA505B}"/>
              </a:ext>
            </a:extLst>
          </p:cNvPr>
          <p:cNvSpPr txBox="1"/>
          <p:nvPr/>
        </p:nvSpPr>
        <p:spPr>
          <a:xfrm>
            <a:off x="2213810" y="1289652"/>
            <a:ext cx="9400674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1" indent="-457200">
              <a:buFont typeface="Wingdings" panose="05000000000000000000" pitchFamily="2" charset="2"/>
              <a:buChar char="v"/>
            </a:pPr>
            <a:r>
              <a:rPr lang="en-IN" sz="2400" dirty="0"/>
              <a:t>Students need a quick way to verify their bus fee payment because carrying and presenting receipts can be inconvenient.</a:t>
            </a:r>
          </a:p>
          <a:p>
            <a:pPr marL="457200" lvl="0" indent="-457200">
              <a:buFont typeface="Wingdings" panose="05000000000000000000" pitchFamily="2" charset="2"/>
              <a:buChar char="v"/>
            </a:pPr>
            <a:r>
              <a:rPr lang="en-IN" sz="2400" dirty="0"/>
              <a:t>Bus staff need an easy verification method because checking every student's receipt manually takes time.</a:t>
            </a:r>
          </a:p>
          <a:p>
            <a:pPr marL="457200" lvl="0" indent="-457200">
              <a:buFont typeface="Wingdings" panose="05000000000000000000" pitchFamily="2" charset="2"/>
              <a:buChar char="v"/>
            </a:pPr>
            <a:r>
              <a:rPr lang="en-IN" sz="2400" dirty="0"/>
              <a:t>College administrators need centralized payment records because managing paper records can lead to errors.</a:t>
            </a:r>
          </a:p>
          <a:p>
            <a:pPr marL="457200" lvl="0" indent="-457200">
              <a:buFont typeface="Wingdings" panose="05000000000000000000" pitchFamily="2" charset="2"/>
              <a:buChar char="v"/>
            </a:pPr>
            <a:r>
              <a:rPr lang="en-IN" sz="2400" dirty="0"/>
              <a:t>Students need clear payment status updates because they may be unsure whether their fees have been recorded.</a:t>
            </a:r>
          </a:p>
          <a:p>
            <a:pPr marL="457200" lvl="0" indent="-457200">
              <a:buFont typeface="Wingdings" panose="05000000000000000000" pitchFamily="2" charset="2"/>
              <a:buChar char="v"/>
            </a:pPr>
            <a:r>
              <a:rPr lang="en-IN" sz="2400" dirty="0"/>
              <a:t>College management needs reliable verification because it helps identify students with pending bus fees</a:t>
            </a:r>
            <a:r>
              <a:rPr lang="en-IN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31934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5;p2"/>
          <p:cNvSpPr/>
          <p:nvPr/>
        </p:nvSpPr>
        <p:spPr>
          <a:xfrm>
            <a:off x="876300" y="22754"/>
            <a:ext cx="113157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24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T27: Documenting Insights and Needs</a:t>
            </a:r>
            <a:endParaRPr lang="en-US" sz="2400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6B7FEDA-E2E4-4751-BB13-1CB67A8F9F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7317222"/>
              </p:ext>
            </p:extLst>
          </p:nvPr>
        </p:nvGraphicFramePr>
        <p:xfrm>
          <a:off x="1315453" y="737937"/>
          <a:ext cx="9717405" cy="5229726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4231005">
                  <a:extLst>
                    <a:ext uri="{9D8B030D-6E8A-4147-A177-3AD203B41FA5}">
                      <a16:colId xmlns:a16="http://schemas.microsoft.com/office/drawing/2014/main" val="1259629162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3718710660"/>
                    </a:ext>
                  </a:extLst>
                </a:gridCol>
              </a:tblGrid>
              <a:tr h="8716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User Insight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User Need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9587945"/>
                  </a:ext>
                </a:extLst>
              </a:tr>
              <a:tr h="8716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Manual verification takes time.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 faster digital verification method.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173533"/>
                  </a:ext>
                </a:extLst>
              </a:tr>
              <a:tr h="8716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Students may lose receipts.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 alternative digital payment confirmation.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4436832"/>
                  </a:ext>
                </a:extLst>
              </a:tr>
              <a:tr h="8716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Payment records may not be updated immediately.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Accurate and updated fee information.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8104115"/>
                  </a:ext>
                </a:extLst>
              </a:tr>
              <a:tr h="8716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Staff find it difficult to check many students.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Quick verification using student ID or QR code.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7284224"/>
                  </a:ext>
                </a:extLst>
              </a:tr>
              <a:tr h="8716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Administrators manage many payment records.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 centralized system for maintaining records.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93854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692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5;p2"/>
          <p:cNvSpPr/>
          <p:nvPr/>
        </p:nvSpPr>
        <p:spPr>
          <a:xfrm>
            <a:off x="876300" y="22754"/>
            <a:ext cx="113157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24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T28: Persona Canvas</a:t>
            </a:r>
            <a:endParaRPr lang="en-US" sz="2400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B78EFE-34C5-CC3B-A460-CFE1BBB4E7C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754" b="7256"/>
          <a:stretch>
            <a:fillRect/>
          </a:stretch>
        </p:blipFill>
        <p:spPr>
          <a:xfrm>
            <a:off x="673769" y="0"/>
            <a:ext cx="108605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789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5;p2"/>
          <p:cNvSpPr/>
          <p:nvPr/>
        </p:nvSpPr>
        <p:spPr>
          <a:xfrm>
            <a:off x="962526" y="320842"/>
            <a:ext cx="530993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2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T29: SCAMPER Worksheet</a:t>
            </a:r>
            <a:endParaRPr lang="en-US" sz="3200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71CD173-6926-21FD-7FD0-12562790D24B}"/>
              </a:ext>
            </a:extLst>
          </p:cNvPr>
          <p:cNvGraphicFramePr>
            <a:graphicFrameLocks noGrp="1"/>
          </p:cNvGraphicFramePr>
          <p:nvPr/>
        </p:nvGraphicFramePr>
        <p:xfrm>
          <a:off x="1836821" y="1106904"/>
          <a:ext cx="9601200" cy="5550563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4777739">
                  <a:extLst>
                    <a:ext uri="{9D8B030D-6E8A-4147-A177-3AD203B41FA5}">
                      <a16:colId xmlns:a16="http://schemas.microsoft.com/office/drawing/2014/main" val="3248186047"/>
                    </a:ext>
                  </a:extLst>
                </a:gridCol>
                <a:gridCol w="4823461">
                  <a:extLst>
                    <a:ext uri="{9D8B030D-6E8A-4147-A177-3AD203B41FA5}">
                      <a16:colId xmlns:a16="http://schemas.microsoft.com/office/drawing/2014/main" val="3284104963"/>
                    </a:ext>
                  </a:extLst>
                </a:gridCol>
              </a:tblGrid>
              <a:tr h="4146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SCAMPER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Ideas for Our Project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2317935"/>
                  </a:ext>
                </a:extLst>
              </a:tr>
              <a:tr h="7336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S – Substitute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Substitute manual fee checking with digital verification.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6561059"/>
                  </a:ext>
                </a:extLst>
              </a:tr>
              <a:tr h="7336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C – Combine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Combine student ID, fee payment records, and QR code verification.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8359966"/>
                  </a:ext>
                </a:extLst>
              </a:tr>
              <a:tr h="7336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A – Adapt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Adapt QR-based scanning for checking bus fee status.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6401950"/>
                  </a:ext>
                </a:extLst>
              </a:tr>
              <a:tr h="7336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M – Modify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Make the verification process faster and easier using a digital system.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6471186"/>
                  </a:ext>
                </a:extLst>
              </a:tr>
              <a:tr h="7336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P – Put to another 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Use the system to generate fee payment reports for college administration.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9948499"/>
                  </a:ext>
                </a:extLst>
              </a:tr>
              <a:tr h="7336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E – Eliminate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Eliminate repeated manual checking and paper-based records.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1637889"/>
                  </a:ext>
                </a:extLst>
              </a:tr>
              <a:tr h="7336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R – Reverse / Rearrange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Verify the student's fee status before allowing bus access.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6030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1728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95;p2"/>
          <p:cNvSpPr/>
          <p:nvPr/>
        </p:nvSpPr>
        <p:spPr>
          <a:xfrm>
            <a:off x="482168" y="1208314"/>
            <a:ext cx="2873829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2800" b="1" i="0" u="none" strike="noStrike" cap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T30: Reconnecting Personas</a:t>
            </a:r>
            <a:endParaRPr lang="en-US" sz="2800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150A4F1-5197-3EF8-A1D0-BB4A4AF332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1053" y="288759"/>
            <a:ext cx="8678779" cy="6569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174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/>
          <p:nvPr/>
        </p:nvSpPr>
        <p:spPr>
          <a:xfrm>
            <a:off x="2858980" y="0"/>
            <a:ext cx="8377979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2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T31: Storyboard Canvas</a:t>
            </a:r>
            <a:endParaRPr sz="3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0" name="Google Shape;8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4825" y="747075"/>
            <a:ext cx="10210876" cy="5729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/>
          <p:nvPr/>
        </p:nvSpPr>
        <p:spPr>
          <a:xfrm>
            <a:off x="2196668" y="0"/>
            <a:ext cx="969053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28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T32: Storyboard Canvas for Your Persona’s</a:t>
            </a: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7" name="Google Shape;87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9450" y="845025"/>
            <a:ext cx="9263575" cy="557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1014</TotalTime>
  <Words>404</Words>
  <Application>Microsoft Office PowerPoint</Application>
  <PresentationFormat>Widescreen</PresentationFormat>
  <Paragraphs>73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Noto Sans Symbols</vt:lpstr>
      <vt:lpstr>Times New Roman</vt:lpstr>
      <vt:lpstr>Wingdings</vt:lpstr>
      <vt:lpstr>Flow</vt:lpstr>
      <vt:lpstr>SMART BUS VARIFICATION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 1:  Develop SCOPES template for your design challenge</dc:title>
  <dc:creator>kavinkumar M</dc:creator>
  <cp:lastModifiedBy>Admin</cp:lastModifiedBy>
  <cp:revision>62</cp:revision>
  <dcterms:created xsi:type="dcterms:W3CDTF">2021-04-21T15:36:00Z</dcterms:created>
  <dcterms:modified xsi:type="dcterms:W3CDTF">2026-10-23T09:49:41Z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37A3327C92E44D8A8E230645E01DA062</vt:lpwstr>
  </property>
  <property fmtid="{D5CDD505-2E9C-101B-9397-08002B2CF9AE}" pid="3" name="KSOProductBuildVer">
    <vt:lpwstr>1033-11.2.0.11537</vt:lpwstr>
  </property>
</Properties>
</file>